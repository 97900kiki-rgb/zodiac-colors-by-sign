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맑은 고딕" panose="020B0503020000020004" pitchFamily="50" charset="-127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arcellus" panose="020B0600000101010101" charset="0"/>
      <p:regular r:id="rId17"/>
    </p:embeddedFont>
    <p:embeddedFont>
      <p:font typeface="Montserrat" panose="00000500000000000000" pitchFamily="2" charset="0"/>
      <p:regular r:id="rId18"/>
    </p:embeddedFont>
    <p:embeddedFont>
      <p:font typeface="Montserrat Bold" panose="00000800000000000000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676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185392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태어난 띠로 찾는 </a:t>
            </a:r>
            <a:endParaRPr lang="ko-KR" sz="4250" dirty="0"/>
          </a:p>
        </p:txBody>
      </p:sp>
      <p:sp>
        <p:nvSpPr>
          <p:cNvPr id="5" name="Text 1"/>
          <p:cNvSpPr/>
          <p:nvPr/>
        </p:nvSpPr>
        <p:spPr>
          <a:xfrm>
            <a:off x="661475" y="2967434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나의 컬러</a:t>
            </a:r>
            <a:endParaRPr lang="ko-KR" sz="4250" dirty="0"/>
          </a:p>
        </p:txBody>
      </p:sp>
      <p:sp>
        <p:nvSpPr>
          <p:cNvPr id="6" name="Text 2"/>
          <p:cNvSpPr/>
          <p:nvPr/>
        </p:nvSpPr>
        <p:spPr>
          <a:xfrm>
            <a:off x="661475" y="3749477"/>
            <a:ext cx="6296860" cy="42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ko-KR" altLang="en-US" sz="2550" kern="0" spc="-2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동양 오행과 컬러 심리학을 </a:t>
            </a:r>
            <a:endParaRPr lang="ko-KR" sz="2550" dirty="0"/>
          </a:p>
        </p:txBody>
      </p:sp>
      <p:sp>
        <p:nvSpPr>
          <p:cNvPr id="7" name="Text 3"/>
          <p:cNvSpPr/>
          <p:nvPr/>
        </p:nvSpPr>
        <p:spPr>
          <a:xfrm>
            <a:off x="661475" y="4248845"/>
            <a:ext cx="6296860" cy="42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ko-KR" altLang="en-US" sz="2550" kern="0" spc="-2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결합한 12띠별 컬러 추천 가이드</a:t>
            </a:r>
            <a:endParaRPr lang="ko-KR" sz="25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22DDB3-77A9-47A5-B1D7-313CB501C223}"/>
              </a:ext>
            </a:extLst>
          </p:cNvPr>
          <p:cNvSpPr txBox="1"/>
          <p:nvPr/>
        </p:nvSpPr>
        <p:spPr>
          <a:xfrm>
            <a:off x="661475" y="5283200"/>
            <a:ext cx="1971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개발자</a:t>
            </a:r>
            <a:r>
              <a:rPr lang="en-US" altLang="ko-KR" dirty="0"/>
              <a:t> : </a:t>
            </a:r>
            <a:r>
              <a:rPr lang="ko-KR" altLang="en-US" dirty="0"/>
              <a:t>박서현</a:t>
            </a:r>
            <a:endParaRPr lang="en-US" altLang="ko-KR" dirty="0"/>
          </a:p>
          <a:p>
            <a:r>
              <a:rPr lang="en-US" altLang="ko-KR" dirty="0"/>
              <a:t>2026.09.29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80330"/>
            <a:ext cx="6296860" cy="68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4100" kern="0" spc="-4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쥐띠 · 돼지띠</a:t>
            </a:r>
            <a:endParaRPr lang="ko-KR" sz="4100" dirty="0"/>
          </a:p>
        </p:txBody>
      </p:sp>
      <p:sp>
        <p:nvSpPr>
          <p:cNvPr id="4" name="Shape 1"/>
          <p:cNvSpPr/>
          <p:nvPr/>
        </p:nvSpPr>
        <p:spPr>
          <a:xfrm>
            <a:off x="529616" y="1530648"/>
            <a:ext cx="3188811" cy="4747022"/>
          </a:xfrm>
          <a:prstGeom prst="roundRect">
            <a:avLst>
              <a:gd name="adj" fmla="val 4134"/>
            </a:avLst>
          </a:prstGeom>
          <a:solidFill>
            <a:srgbClr val="241512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12670" y="1707952"/>
            <a:ext cx="2822703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05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ko-KR" altLang="en-US" sz="2050" kern="0" spc="-21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어울리는 컬러</a:t>
            </a:r>
            <a:endParaRPr lang="ko-KR" sz="2050" dirty="0"/>
          </a:p>
        </p:txBody>
      </p:sp>
      <p:sp>
        <p:nvSpPr>
          <p:cNvPr id="6" name="Shape 3"/>
          <p:cNvSpPr/>
          <p:nvPr/>
        </p:nvSpPr>
        <p:spPr>
          <a:xfrm>
            <a:off x="712670" y="2249587"/>
            <a:ext cx="2822703" cy="1157982"/>
          </a:xfrm>
          <a:prstGeom prst="roundRect">
            <a:avLst>
              <a:gd name="adj" fmla="val 6641"/>
            </a:avLst>
          </a:prstGeom>
          <a:solidFill>
            <a:srgbClr val="241512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774" y="2451695"/>
            <a:ext cx="2418496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050" kern="0" spc="-21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검정</a:t>
            </a:r>
            <a:endParaRPr lang="ko-KR" sz="2050" dirty="0"/>
          </a:p>
        </p:txBody>
      </p:sp>
      <p:sp>
        <p:nvSpPr>
          <p:cNvPr id="8" name="Text 5"/>
          <p:cNvSpPr/>
          <p:nvPr/>
        </p:nvSpPr>
        <p:spPr>
          <a:xfrm>
            <a:off x="914774" y="2971105"/>
            <a:ext cx="2418496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깊이와 지혜를 상징</a:t>
            </a:r>
            <a:endParaRPr lang="ko-KR" sz="1400" dirty="0"/>
          </a:p>
        </p:txBody>
      </p:sp>
      <p:sp>
        <p:nvSpPr>
          <p:cNvPr id="9" name="Shape 6"/>
          <p:cNvSpPr/>
          <p:nvPr/>
        </p:nvSpPr>
        <p:spPr>
          <a:xfrm>
            <a:off x="712670" y="3584873"/>
            <a:ext cx="2822703" cy="1157982"/>
          </a:xfrm>
          <a:prstGeom prst="roundRect">
            <a:avLst>
              <a:gd name="adj" fmla="val 6641"/>
            </a:avLst>
          </a:prstGeom>
          <a:solidFill>
            <a:srgbClr val="241512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774" y="3786981"/>
            <a:ext cx="2418496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050" kern="0" spc="-21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파랑</a:t>
            </a:r>
            <a:endParaRPr lang="ko-KR" sz="2050" dirty="0"/>
          </a:p>
        </p:txBody>
      </p:sp>
      <p:sp>
        <p:nvSpPr>
          <p:cNvPr id="11" name="Text 8"/>
          <p:cNvSpPr/>
          <p:nvPr/>
        </p:nvSpPr>
        <p:spPr>
          <a:xfrm>
            <a:off x="914774" y="4306391"/>
            <a:ext cx="2418496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차분함과 신뢰감</a:t>
            </a:r>
            <a:endParaRPr lang="ko-KR" sz="1400" dirty="0"/>
          </a:p>
        </p:txBody>
      </p:sp>
      <p:sp>
        <p:nvSpPr>
          <p:cNvPr id="12" name="Shape 9"/>
          <p:cNvSpPr/>
          <p:nvPr/>
        </p:nvSpPr>
        <p:spPr>
          <a:xfrm>
            <a:off x="712670" y="4920159"/>
            <a:ext cx="2822703" cy="1157982"/>
          </a:xfrm>
          <a:prstGeom prst="roundRect">
            <a:avLst>
              <a:gd name="adj" fmla="val 6641"/>
            </a:avLst>
          </a:prstGeom>
          <a:solidFill>
            <a:srgbClr val="241512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774" y="5122267"/>
            <a:ext cx="2418496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050" kern="0" spc="-21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흰색</a:t>
            </a:r>
            <a:endParaRPr lang="ko-KR" sz="2050" dirty="0"/>
          </a:p>
        </p:txBody>
      </p:sp>
      <p:sp>
        <p:nvSpPr>
          <p:cNvPr id="14" name="Text 11"/>
          <p:cNvSpPr/>
          <p:nvPr/>
        </p:nvSpPr>
        <p:spPr>
          <a:xfrm>
            <a:off x="914774" y="5641677"/>
            <a:ext cx="2418496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청결하고 순수한 이미지</a:t>
            </a:r>
            <a:endParaRPr lang="ko-KR" sz="1400" dirty="0"/>
          </a:p>
        </p:txBody>
      </p:sp>
      <p:sp>
        <p:nvSpPr>
          <p:cNvPr id="15" name="Text 12"/>
          <p:cNvSpPr/>
          <p:nvPr/>
        </p:nvSpPr>
        <p:spPr>
          <a:xfrm>
            <a:off x="4039590" y="1707952"/>
            <a:ext cx="2925094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05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ko-KR" altLang="en-US" sz="205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피해야 할 컬러</a:t>
            </a:r>
            <a:endParaRPr lang="ko-KR" sz="2050" dirty="0"/>
          </a:p>
        </p:txBody>
      </p:sp>
      <p:sp>
        <p:nvSpPr>
          <p:cNvPr id="16" name="Text 13"/>
          <p:cNvSpPr/>
          <p:nvPr/>
        </p:nvSpPr>
        <p:spPr>
          <a:xfrm>
            <a:off x="4039590" y="2227362"/>
            <a:ext cx="2925094" cy="937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ko-KR" altLang="en-US" sz="14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빨강 · 주황</a:t>
            </a:r>
            <a:r>
              <a:rPr lang="ko-KR" alt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강렬한 화기(火氣)가 수(水) 기운을 지닌 쥐띠·돼지띠와 충돌하여 불안정함과 긴장감을 유발할 수 있습니다.</a:t>
            </a:r>
            <a:endParaRPr lang="ko-KR" sz="1400" dirty="0"/>
          </a:p>
        </p:txBody>
      </p:sp>
      <p:sp>
        <p:nvSpPr>
          <p:cNvPr id="17" name="Shape 14"/>
          <p:cNvSpPr/>
          <p:nvPr/>
        </p:nvSpPr>
        <p:spPr>
          <a:xfrm>
            <a:off x="4039590" y="3364309"/>
            <a:ext cx="2925094" cy="1113830"/>
          </a:xfrm>
          <a:prstGeom prst="roundRect">
            <a:avLst>
              <a:gd name="adj" fmla="val 6905"/>
            </a:avLst>
          </a:prstGeom>
          <a:solidFill>
            <a:srgbClr val="FFE0CC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644" y="3604915"/>
            <a:ext cx="228793" cy="1830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34491" y="3569692"/>
            <a:ext cx="2147139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ko-KR" alt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중요한 발표나 면접 날에는 네이비, 차콜 계열을 선택해보세요.</a:t>
            </a:r>
            <a:endParaRPr lang="ko-KR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9268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소띠 · 양띠</a:t>
            </a:r>
            <a:endParaRPr lang="ko-KR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71799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69096"/>
            <a:ext cx="690326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ko-KR" alt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어울리는 컬러</a:t>
            </a:r>
            <a:endParaRPr lang="ko-KR" sz="2100" dirty="0"/>
          </a:p>
        </p:txBody>
      </p:sp>
      <p:sp>
        <p:nvSpPr>
          <p:cNvPr id="5" name="Text 2"/>
          <p:cNvSpPr/>
          <p:nvPr/>
        </p:nvSpPr>
        <p:spPr>
          <a:xfrm>
            <a:off x="4633201" y="3311327"/>
            <a:ext cx="6903269" cy="5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ko-KR" alt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초록 · 연두</a:t>
            </a: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온화하고 평화로운 느낌, 토(土) 기운과 조화</a:t>
            </a:r>
            <a:endParaRPr lang="ko-KR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ko-KR" alt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베이지</a:t>
            </a: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안정감과 따뜻함을 더해주는 자연 컬러</a:t>
            </a:r>
            <a:endParaRPr lang="ko-KR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128591"/>
            <a:ext cx="6903269" cy="25400"/>
          </a:xfrm>
          <a:prstGeom prst="roundRect">
            <a:avLst>
              <a:gd name="adj" fmla="val 49999"/>
            </a:avLst>
          </a:prstGeom>
          <a:solidFill>
            <a:srgbClr val="67534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33201" y="4413845"/>
            <a:ext cx="690326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ko-KR" alt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피해야 할 컬러</a:t>
            </a:r>
            <a:endParaRPr lang="ko-KR" sz="2100" dirty="0"/>
          </a:p>
        </p:txBody>
      </p:sp>
      <p:sp>
        <p:nvSpPr>
          <p:cNvPr id="8" name="Text 5"/>
          <p:cNvSpPr/>
          <p:nvPr/>
        </p:nvSpPr>
        <p:spPr>
          <a:xfrm>
            <a:off x="4633201" y="4956076"/>
            <a:ext cx="751285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ko-KR" alt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검정 · 회색</a:t>
            </a: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우울함과 답답함을 유발하고 활력을 낮출 수 있음</a:t>
            </a:r>
            <a:endParaRPr lang="ko-KR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4684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호랑이띠 · 토끼띠</a:t>
            </a:r>
            <a:endParaRPr lang="ko-KR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69145"/>
            <a:ext cx="2009923" cy="2009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15359"/>
            <a:ext cx="346542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초록</a:t>
            </a:r>
            <a:endParaRPr lang="ko-KR" sz="2100" dirty="0"/>
          </a:p>
        </p:txBody>
      </p:sp>
      <p:sp>
        <p:nvSpPr>
          <p:cNvPr id="5" name="Text 2"/>
          <p:cNvSpPr/>
          <p:nvPr/>
        </p:nvSpPr>
        <p:spPr>
          <a:xfrm>
            <a:off x="661475" y="5081984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목(木) 기운을 강화하며 신선함과 성장의 에너지를 불어넣습니다.</a:t>
            </a:r>
            <a:endParaRPr lang="ko-KR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369145"/>
            <a:ext cx="2009923" cy="2009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615359"/>
            <a:ext cx="346542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파랑 · 검정</a:t>
            </a:r>
            <a:endParaRPr lang="ko-KR" sz="2100" dirty="0"/>
          </a:p>
        </p:txBody>
      </p:sp>
      <p:sp>
        <p:nvSpPr>
          <p:cNvPr id="8" name="Text 4"/>
          <p:cNvSpPr/>
          <p:nvPr/>
        </p:nvSpPr>
        <p:spPr>
          <a:xfrm>
            <a:off x="4363135" y="5081984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수(水) 기운이 목(木)을 키워주어 활기와 지적 능력을 높입니다.</a:t>
            </a:r>
            <a:endParaRPr lang="ko-KR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369145"/>
            <a:ext cx="2009923" cy="2009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615359"/>
            <a:ext cx="346542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흰색 · 금색</a:t>
            </a:r>
            <a:endParaRPr lang="ko-KR" sz="2100" dirty="0"/>
          </a:p>
        </p:txBody>
      </p:sp>
      <p:sp>
        <p:nvSpPr>
          <p:cNvPr id="11" name="Text 6"/>
          <p:cNvSpPr/>
          <p:nvPr/>
        </p:nvSpPr>
        <p:spPr>
          <a:xfrm>
            <a:off x="8064794" y="5081984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금(金) 기운이 목(木)을 극(克)하여 운세를 약화시킬 수 있습니다.</a:t>
            </a:r>
            <a:endParaRPr lang="ko-KR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682327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뱀띠 · 닭띠</a:t>
            </a:r>
            <a:endParaRPr lang="ko-KR" sz="4250" dirty="0"/>
          </a:p>
        </p:txBody>
      </p:sp>
      <p:sp>
        <p:nvSpPr>
          <p:cNvPr id="5" name="Text 1"/>
          <p:cNvSpPr/>
          <p:nvPr/>
        </p:nvSpPr>
        <p:spPr>
          <a:xfrm>
            <a:off x="661475" y="1861245"/>
            <a:ext cx="2917851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ko-KR" alt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어울리는 컬러</a:t>
            </a:r>
            <a:endParaRPr lang="ko-KR" sz="2100" dirty="0"/>
          </a:p>
        </p:txBody>
      </p:sp>
      <p:sp>
        <p:nvSpPr>
          <p:cNvPr id="6" name="Shape 2"/>
          <p:cNvSpPr/>
          <p:nvPr/>
        </p:nvSpPr>
        <p:spPr>
          <a:xfrm>
            <a:off x="661475" y="2427089"/>
            <a:ext cx="2917851" cy="3535859"/>
          </a:xfrm>
          <a:prstGeom prst="roundRect">
            <a:avLst>
              <a:gd name="adj" fmla="val 2721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80524" y="2446139"/>
            <a:ext cx="2879752" cy="1165920"/>
          </a:xfrm>
          <a:custGeom>
            <a:avLst/>
            <a:gdLst/>
            <a:ahLst/>
            <a:cxnLst/>
            <a:rect l="l" t="t" r="r" b="b"/>
            <a:pathLst>
              <a:path w="2879752" h="1165920">
                <a:moveTo>
                  <a:pt x="66156" y="0"/>
                </a:moveTo>
                <a:lnTo>
                  <a:pt x="2813596" y="0"/>
                </a:lnTo>
                <a:arcTo wR="66156" hR="66158" stAng="16200000" swAng="5400000"/>
                <a:lnTo>
                  <a:pt x="2879752" y="1165920"/>
                </a:lnTo>
                <a:lnTo>
                  <a:pt x="0" y="1165920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8" name="Text 4"/>
          <p:cNvSpPr/>
          <p:nvPr/>
        </p:nvSpPr>
        <p:spPr>
          <a:xfrm>
            <a:off x="869531" y="2635151"/>
            <a:ext cx="250173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빨강</a:t>
            </a:r>
            <a:endParaRPr lang="ko-KR" sz="2100" dirty="0"/>
          </a:p>
        </p:txBody>
      </p:sp>
      <p:sp>
        <p:nvSpPr>
          <p:cNvPr id="9" name="Text 5"/>
          <p:cNvSpPr/>
          <p:nvPr/>
        </p:nvSpPr>
        <p:spPr>
          <a:xfrm>
            <a:off x="869531" y="3177381"/>
            <a:ext cx="250173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열정과 행운</a:t>
            </a:r>
            <a:endParaRPr lang="ko-KR" sz="1450" dirty="0"/>
          </a:p>
        </p:txBody>
      </p:sp>
      <p:sp>
        <p:nvSpPr>
          <p:cNvPr id="10" name="Shape 6"/>
          <p:cNvSpPr/>
          <p:nvPr/>
        </p:nvSpPr>
        <p:spPr>
          <a:xfrm>
            <a:off x="680524" y="3612059"/>
            <a:ext cx="2879752" cy="1165920"/>
          </a:xfrm>
          <a:prstGeom prst="rect">
            <a:avLst/>
          </a:prstGeom>
          <a:solidFill>
            <a:srgbClr val="FFFFF4"/>
          </a:solidFill>
          <a:ln/>
        </p:spPr>
      </p:sp>
      <p:sp>
        <p:nvSpPr>
          <p:cNvPr id="11" name="Shape 7"/>
          <p:cNvSpPr/>
          <p:nvPr/>
        </p:nvSpPr>
        <p:spPr>
          <a:xfrm>
            <a:off x="680524" y="3612059"/>
            <a:ext cx="2879752" cy="25400"/>
          </a:xfrm>
          <a:prstGeom prst="roundRect">
            <a:avLst>
              <a:gd name="adj" fmla="val 49999"/>
            </a:avLst>
          </a:prstGeom>
          <a:solidFill>
            <a:srgbClr val="FFE0CC"/>
          </a:solidFill>
          <a:ln/>
        </p:spPr>
      </p:sp>
      <p:sp>
        <p:nvSpPr>
          <p:cNvPr id="12" name="Text 8"/>
          <p:cNvSpPr/>
          <p:nvPr/>
        </p:nvSpPr>
        <p:spPr>
          <a:xfrm>
            <a:off x="869531" y="3801070"/>
            <a:ext cx="250173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주황</a:t>
            </a:r>
            <a:endParaRPr lang="ko-KR" sz="2100" dirty="0"/>
          </a:p>
        </p:txBody>
      </p:sp>
      <p:sp>
        <p:nvSpPr>
          <p:cNvPr id="13" name="Text 9"/>
          <p:cNvSpPr/>
          <p:nvPr/>
        </p:nvSpPr>
        <p:spPr>
          <a:xfrm>
            <a:off x="869531" y="4343301"/>
            <a:ext cx="250173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활력과 창의성</a:t>
            </a:r>
            <a:endParaRPr lang="ko-KR" sz="1450" dirty="0"/>
          </a:p>
        </p:txBody>
      </p:sp>
      <p:sp>
        <p:nvSpPr>
          <p:cNvPr id="14" name="Shape 10"/>
          <p:cNvSpPr/>
          <p:nvPr/>
        </p:nvSpPr>
        <p:spPr>
          <a:xfrm>
            <a:off x="680524" y="4777978"/>
            <a:ext cx="2879752" cy="1165920"/>
          </a:xfrm>
          <a:custGeom>
            <a:avLst/>
            <a:gdLst/>
            <a:ahLst/>
            <a:cxnLst/>
            <a:rect l="l" t="t" r="r" b="b"/>
            <a:pathLst>
              <a:path w="2879752" h="1165920">
                <a:moveTo>
                  <a:pt x="0" y="0"/>
                </a:moveTo>
                <a:lnTo>
                  <a:pt x="2879752" y="0"/>
                </a:lnTo>
                <a:lnTo>
                  <a:pt x="2879752" y="1099761"/>
                </a:lnTo>
                <a:arcTo wR="66156" hR="66158" stAng="0" swAng="5400000"/>
                <a:lnTo>
                  <a:pt x="66156" y="1165920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80524" y="4777978"/>
            <a:ext cx="2879752" cy="25400"/>
          </a:xfrm>
          <a:prstGeom prst="roundRect">
            <a:avLst>
              <a:gd name="adj" fmla="val 49999"/>
            </a:avLst>
          </a:prstGeom>
          <a:solidFill>
            <a:srgbClr val="FFE0CC"/>
          </a:solidFill>
          <a:ln/>
        </p:spPr>
      </p:sp>
      <p:sp>
        <p:nvSpPr>
          <p:cNvPr id="16" name="Text 12"/>
          <p:cNvSpPr/>
          <p:nvPr/>
        </p:nvSpPr>
        <p:spPr>
          <a:xfrm>
            <a:off x="869531" y="4966990"/>
            <a:ext cx="250173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노랑</a:t>
            </a:r>
            <a:endParaRPr lang="ko-KR" sz="2100" dirty="0"/>
          </a:p>
        </p:txBody>
      </p:sp>
      <p:sp>
        <p:nvSpPr>
          <p:cNvPr id="17" name="Text 13"/>
          <p:cNvSpPr/>
          <p:nvPr/>
        </p:nvSpPr>
        <p:spPr>
          <a:xfrm>
            <a:off x="869531" y="5509220"/>
            <a:ext cx="250173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긍정과 풍요</a:t>
            </a:r>
            <a:endParaRPr lang="ko-KR" sz="1450" dirty="0"/>
          </a:p>
        </p:txBody>
      </p:sp>
      <p:sp>
        <p:nvSpPr>
          <p:cNvPr id="18" name="Text 14"/>
          <p:cNvSpPr/>
          <p:nvPr/>
        </p:nvSpPr>
        <p:spPr>
          <a:xfrm>
            <a:off x="4046833" y="1861245"/>
            <a:ext cx="2917851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ko-KR" alt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피해야 할 컬러</a:t>
            </a:r>
            <a:endParaRPr lang="ko-KR" sz="2100" dirty="0"/>
          </a:p>
        </p:txBody>
      </p:sp>
      <p:sp>
        <p:nvSpPr>
          <p:cNvPr id="19" name="Text 15"/>
          <p:cNvSpPr/>
          <p:nvPr/>
        </p:nvSpPr>
        <p:spPr>
          <a:xfrm>
            <a:off x="4046833" y="2403475"/>
            <a:ext cx="2917851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화(火) 기운이 강한 뱀띠·닭띠에게 </a:t>
            </a:r>
            <a:r>
              <a:rPr lang="ko-KR" alt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검정·파랑</a:t>
            </a: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의 수(水) 기운은 에너지를 억누르고 부정적인 흐름을 만들 수 있습니다. 특히 중요한 날일수록 차갑고 어두운 컬러는 피하는 것이 좋습니다.</a:t>
            </a:r>
            <a:endParaRPr lang="ko-KR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원숭이띠 · 개띠</a:t>
            </a:r>
            <a:endParaRPr lang="ko-KR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96950"/>
            <a:ext cx="5319083" cy="5319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3325713"/>
            <a:ext cx="531908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050" kern="0" spc="-1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왜 금색과 흰색인가?</a:t>
            </a:r>
            <a:endParaRPr lang="ko-KR" sz="1050" dirty="0"/>
          </a:p>
        </p:txBody>
      </p:sp>
      <p:sp>
        <p:nvSpPr>
          <p:cNvPr id="5" name="Text 2"/>
          <p:cNvSpPr/>
          <p:nvPr/>
        </p:nvSpPr>
        <p:spPr>
          <a:xfrm>
            <a:off x="6217487" y="3549452"/>
            <a:ext cx="5319083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ko-KR" alt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원숭이띠·개띠는 금(金) 기운을 타고났습니다. 같은 금 기운의 </a:t>
            </a:r>
            <a:r>
              <a:rPr lang="ko-KR" alt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금색·흰색</a:t>
            </a:r>
            <a:r>
              <a:rPr lang="ko-KR" alt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은 본래 에너지를 증폭시키고, </a:t>
            </a:r>
            <a:r>
              <a:rPr lang="ko-KR" alt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노랑</a:t>
            </a:r>
            <a:r>
              <a:rPr lang="ko-KR" alt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은 토(土)로서 금을 생(生)해 줍니다.</a:t>
            </a:r>
            <a:endParaRPr lang="ko-KR" sz="700" dirty="0"/>
          </a:p>
        </p:txBody>
      </p:sp>
      <p:sp>
        <p:nvSpPr>
          <p:cNvPr id="6" name="Shape 3"/>
          <p:cNvSpPr/>
          <p:nvPr/>
        </p:nvSpPr>
        <p:spPr>
          <a:xfrm>
            <a:off x="6217487" y="3810496"/>
            <a:ext cx="5319083" cy="12700"/>
          </a:xfrm>
          <a:prstGeom prst="roundRect">
            <a:avLst>
              <a:gd name="adj" fmla="val 49999"/>
            </a:avLst>
          </a:prstGeom>
          <a:solidFill>
            <a:srgbClr val="67534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17487" y="3899892"/>
            <a:ext cx="592866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ko-KR" alt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검정·초록</a:t>
            </a:r>
            <a:r>
              <a:rPr lang="ko-KR" alt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은 금(金)과 불화하여 집중력과 운기를 떨어뜨릴 수 있으니 주의하세요.</a:t>
            </a:r>
            <a:endParaRPr lang="ko-KR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9729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용띠 · 말띠</a:t>
            </a:r>
            <a:endParaRPr lang="ko-KR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84190"/>
            <a:ext cx="3496877" cy="217398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6410" y="3054251"/>
            <a:ext cx="22680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3640137"/>
            <a:ext cx="306806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빨강 · 주황</a:t>
            </a:r>
            <a:endParaRPr lang="ko-KR" sz="2100" dirty="0"/>
          </a:p>
        </p:txBody>
      </p:sp>
      <p:sp>
        <p:nvSpPr>
          <p:cNvPr id="6" name="Text 2"/>
          <p:cNvSpPr/>
          <p:nvPr/>
        </p:nvSpPr>
        <p:spPr>
          <a:xfrm>
            <a:off x="875881" y="4106763"/>
            <a:ext cx="306806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화(火) 기운이 용띠·말띠의 역동적인 에너지를 극대화합니다.</a:t>
            </a:r>
            <a:endParaRPr lang="ko-KR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884190"/>
            <a:ext cx="3496877" cy="217398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2294" y="3054251"/>
            <a:ext cx="226808" cy="22681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3640137"/>
            <a:ext cx="306806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자주색</a:t>
            </a:r>
            <a:endParaRPr lang="ko-KR" sz="2100" dirty="0"/>
          </a:p>
        </p:txBody>
      </p:sp>
      <p:sp>
        <p:nvSpPr>
          <p:cNvPr id="10" name="Text 4"/>
          <p:cNvSpPr/>
          <p:nvPr/>
        </p:nvSpPr>
        <p:spPr>
          <a:xfrm>
            <a:off x="4561766" y="4106763"/>
            <a:ext cx="306806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품격과 리더십을 상징하며 강렬한 개성을 더해줍니다.</a:t>
            </a:r>
            <a:endParaRPr lang="ko-KR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884190"/>
            <a:ext cx="3496877" cy="2173982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68179" y="3054251"/>
            <a:ext cx="226808" cy="22681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3640137"/>
            <a:ext cx="306806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파랑 · 검정</a:t>
            </a:r>
            <a:endParaRPr lang="ko-KR" sz="2100" dirty="0"/>
          </a:p>
        </p:txBody>
      </p:sp>
      <p:sp>
        <p:nvSpPr>
          <p:cNvPr id="14" name="Text 6"/>
          <p:cNvSpPr/>
          <p:nvPr/>
        </p:nvSpPr>
        <p:spPr>
          <a:xfrm>
            <a:off x="8247650" y="4106763"/>
            <a:ext cx="3068065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수(水) 기운이 활발한 불(火) 에너지를 꺼뜨려 제약감과 답답함을 줄 수 있습니다.</a:t>
            </a:r>
            <a:endParaRPr lang="ko-KR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9268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컬러 선택 팁</a:t>
            </a:r>
            <a:endParaRPr lang="ko-KR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71799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47615"/>
            <a:ext cx="690326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나만의 컬러를 활용하는 법</a:t>
            </a:r>
            <a:endParaRPr lang="ko-KR" sz="2100" dirty="0"/>
          </a:p>
        </p:txBody>
      </p:sp>
      <p:sp>
        <p:nvSpPr>
          <p:cNvPr id="5" name="Shape 2"/>
          <p:cNvSpPr/>
          <p:nvPr/>
        </p:nvSpPr>
        <p:spPr>
          <a:xfrm>
            <a:off x="4633201" y="291345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82809" y="2914154"/>
            <a:ext cx="326025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50" kern="0" spc="-26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5247449" y="2972495"/>
            <a:ext cx="271922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일상에 녹여보세요</a:t>
            </a:r>
            <a:endParaRPr lang="ko-KR" sz="2100" dirty="0"/>
          </a:p>
        </p:txBody>
      </p:sp>
      <p:sp>
        <p:nvSpPr>
          <p:cNvPr id="8" name="Text 5"/>
          <p:cNvSpPr/>
          <p:nvPr/>
        </p:nvSpPr>
        <p:spPr>
          <a:xfrm>
            <a:off x="5247449" y="3514725"/>
            <a:ext cx="27192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옷, 액세서리, 인테리어 소품에 어울리는 컬러를 자연스럽게 활용해보세요.</a:t>
            </a:r>
            <a:endParaRPr lang="ko-KR" sz="1450" dirty="0"/>
          </a:p>
        </p:txBody>
      </p:sp>
      <p:sp>
        <p:nvSpPr>
          <p:cNvPr id="9" name="Shape 6"/>
          <p:cNvSpPr/>
          <p:nvPr/>
        </p:nvSpPr>
        <p:spPr>
          <a:xfrm>
            <a:off x="8202903" y="291345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52512" y="2914154"/>
            <a:ext cx="326025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50" kern="0" spc="-26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8817151" y="2972495"/>
            <a:ext cx="271931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중요한 날에 참고하세요</a:t>
            </a:r>
            <a:endParaRPr lang="ko-KR" sz="2100" dirty="0"/>
          </a:p>
        </p:txBody>
      </p:sp>
      <p:sp>
        <p:nvSpPr>
          <p:cNvPr id="12" name="Text 9"/>
          <p:cNvSpPr/>
          <p:nvPr/>
        </p:nvSpPr>
        <p:spPr>
          <a:xfrm>
            <a:off x="8817151" y="3514725"/>
            <a:ext cx="271931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완벽하게 따를 필요는 없지만, 발표·면접·소개팅 등 특별한 날에는 좋은 참고가 됩니다.</a:t>
            </a:r>
            <a:endParaRPr lang="ko-KR" sz="1450" dirty="0"/>
          </a:p>
        </p:txBody>
      </p:sp>
      <p:sp>
        <p:nvSpPr>
          <p:cNvPr id="13" name="Shape 10"/>
          <p:cNvSpPr/>
          <p:nvPr/>
        </p:nvSpPr>
        <p:spPr>
          <a:xfrm>
            <a:off x="4633201" y="462974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2809" y="4630440"/>
            <a:ext cx="326025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50" kern="0" spc="-26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5247449" y="4688780"/>
            <a:ext cx="6289022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나만의 기준도 중요해요</a:t>
            </a:r>
            <a:endParaRPr lang="ko-KR" sz="2100" dirty="0"/>
          </a:p>
        </p:txBody>
      </p:sp>
      <p:sp>
        <p:nvSpPr>
          <p:cNvPr id="16" name="Text 13"/>
          <p:cNvSpPr/>
          <p:nvPr/>
        </p:nvSpPr>
        <p:spPr>
          <a:xfrm>
            <a:off x="5247449" y="5231011"/>
            <a:ext cx="628902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개인의 취향과 피부톤을 함께 고려하면 더 자신감 있는 컬러 선택이 가능합니다.</a:t>
            </a:r>
            <a:endParaRPr lang="ko-KR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405</Words>
  <Application>Microsoft Office PowerPoint</Application>
  <PresentationFormat>와이드스크린</PresentationFormat>
  <Paragraphs>70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Marcellus</vt:lpstr>
      <vt:lpstr>Calibri</vt:lpstr>
      <vt:lpstr>Montserrat Bold</vt:lpstr>
      <vt:lpstr>Noto Color Emoji</vt:lpstr>
      <vt:lpstr>Montserrat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lastModifiedBy>김하은 2263025</cp:lastModifiedBy>
  <cp:revision>2</cp:revision>
  <dcterms:created xsi:type="dcterms:W3CDTF">2026-09-29T08:23:33Z</dcterms:created>
  <dcterms:modified xsi:type="dcterms:W3CDTF">2026-09-29T08:27:08Z</dcterms:modified>
</cp:coreProperties>
</file>